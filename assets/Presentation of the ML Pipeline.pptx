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6" r:id="rId11"/>
    <p:sldId id="264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70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06F04-1659-C4A2-7C09-BA3D47C38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C0FDD-03CF-D0E1-5DF8-13FFF4D95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D7ED3-135F-3F2E-C493-46A5A36AF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D0B9-CAFB-4B34-C46F-6B48DBF356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3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5k-9U3dNhQFjzTfFTkAA5dqSEBxsW2Tc?usp=sharin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486400" cy="5486400"/>
          </a:xfrm>
          <a:prstGeom prst="ellipse">
            <a:avLst/>
          </a:prstGeom>
          <a:solidFill>
            <a:srgbClr val="065A82">
              <a:alpha val="35000"/>
            </a:srgbClr>
          </a:solidFill>
          <a:ln w="12700">
            <a:solidFill>
              <a:srgbClr val="065A82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Our Model Works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0292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Pipeline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14630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 → Train linear model on normal rows only → Discover 5×x1² from analysis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Phase: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both predictions → 0.9×Linear + 0.1×5×x1²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15544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41605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75688" y="4343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21992" y="4160520"/>
            <a:ext cx="1554480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21992" y="41605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4343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41064" y="4160520"/>
            <a:ext cx="1554480" cy="749808"/>
          </a:xfrm>
          <a:prstGeom prst="rect">
            <a:avLst/>
          </a:prstGeom>
          <a:solidFill>
            <a:srgbClr val="1F618D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41064" y="41605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13832" y="4343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0136" y="4160520"/>
            <a:ext cx="1554480" cy="749808"/>
          </a:xfrm>
          <a:prstGeom prst="rect">
            <a:avLst/>
          </a:prstGeom>
          <a:solidFill>
            <a:srgbClr val="2874A6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0136" y="41605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Formula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32904" y="434340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79208" y="4160520"/>
            <a:ext cx="155448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9208" y="4160520"/>
            <a:ext cx="1554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&amp; Predict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Understand the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7432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File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× 16 columns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features: x0 to x14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743200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7432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938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× 15 columns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15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2743200" cy="2560320"/>
          </a:xfrm>
          <a:prstGeom prst="rect">
            <a:avLst/>
          </a:prstGeom>
          <a:solidFill>
            <a:srgbClr val="17406D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743200" cy="47548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9385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per feature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 cells blank per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train with blanks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fill with column MEDIAN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749808"/>
          </a:xfrm>
          <a:prstGeom prst="rect">
            <a:avLst/>
          </a:prstGeom>
          <a:solidFill>
            <a:srgbClr val="0A154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2062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MEDIAN and not MEAN?  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[1, 2, 3, 5000] = 1251.  Median = 2.5.  Median is not distorted by extreme values.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Two Regimes in the Data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45720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120640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Split Method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120640" y="1828800"/>
            <a:ext cx="37490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12080" y="18653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= −34.73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20840" y="18653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 percentile of target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304288"/>
            <a:ext cx="37490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080" y="23408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= +53.22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234086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75th percentile of target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2779776"/>
            <a:ext cx="37490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12080" y="28163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87.95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20840" y="281635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Q3 − Q1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3255264"/>
            <a:ext cx="37490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12080" y="32918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= +185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720840" y="32918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+ 1.5×IQR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120640" y="3730752"/>
            <a:ext cx="3749040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2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37673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−167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720840" y="376732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Q1 − 1.5×IQR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120640" y="4279392"/>
            <a:ext cx="17830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120640" y="42793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rows  (93%)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086600" y="4279392"/>
            <a:ext cx="1783080" cy="658368"/>
          </a:xfrm>
          <a:prstGeom prst="rect">
            <a:avLst/>
          </a:prstGeom>
          <a:solidFill>
            <a:srgbClr val="7B2D00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086600" y="4279392"/>
            <a:ext cx="1783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rows  (7%)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 Model on Normal Rows Only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2976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here: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41148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73152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" y="1874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2064" y="21762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2,327 normal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(extreme rows EXCLUDED)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852928"/>
            <a:ext cx="41148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65760" y="2852928"/>
            <a:ext cx="73152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2064" y="28986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12064" y="32004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squared features → 30 total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StandardScaler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LinearRegression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3877056"/>
            <a:ext cx="41148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3877056"/>
            <a:ext cx="73152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" y="392277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2064" y="42245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learned coefficients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most important (+3.09)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0.91 on normal rows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4503420"/>
            <a:ext cx="4114800" cy="320040"/>
          </a:xfrm>
          <a:prstGeom prst="rect">
            <a:avLst/>
          </a:prstGeom>
          <a:solidFill>
            <a:srgbClr val="0A154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44759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exclude extreme rows?  They would distort the linear coefficients.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the Extreme Row Formula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2976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3258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We computed target ÷ x1²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extreme row: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65760" y="2491740"/>
            <a:ext cx="4114800" cy="594360"/>
          </a:xfrm>
          <a:prstGeom prst="rect">
            <a:avLst/>
          </a:prstGeom>
          <a:solidFill>
            <a:srgbClr val="7B4200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2468464"/>
            <a:ext cx="393192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extreme row → ratio ≈ 5.0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∴  target = 5 × x1²    (R² = 0.964)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65760" y="4965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formula was NOT trained — it was discovered by inspection.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Blend: Through CV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 =  0.9 × LinearModel(x)  +  0.1 × 5 × x₁²  =  0.9 × L(x)  +  0.5 × x₁²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212848"/>
            <a:ext cx="4206240" cy="269748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2062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2212848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Row  (x1 = 5, true target = 45)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predicts: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23160" y="268833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  ✓  (correct — model trained on rows like this)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x1² formula gives: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23160" y="32004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25 = 125   ✗  (too high for this row)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 0.9×45 + 0.1×125: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23160" y="371246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40.5 + 12.5  =  53   (close to true 45)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42245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error from 10% formula weight — acceptable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956048"/>
            <a:ext cx="4206240" cy="237744"/>
          </a:xfrm>
          <a:prstGeom prst="rect">
            <a:avLst/>
          </a:prstGeom>
          <a:solidFill>
            <a:srgbClr val="0A154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95604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rows: blend works well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212848"/>
            <a:ext cx="4206240" cy="2697480"/>
          </a:xfrm>
          <a:prstGeom prst="rect">
            <a:avLst/>
          </a:prstGeom>
          <a:solidFill>
            <a:srgbClr val="7B2D00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00600" y="2212848"/>
            <a:ext cx="42062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2212848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Row  (x1 = 30, true target = 4,500)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26883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predicts: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688336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  ✗  (wrong — never trained on extreme rows)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200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x1² formula gives: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900 = 4,500   ✓  (correct formula!)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7124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 0.9×50 + 0.1×4500: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712464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+ 450  =  495   (partial boost)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2245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22452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underpredicted but FAR better than 50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956048"/>
            <a:ext cx="4206240" cy="237744"/>
          </a:xfrm>
          <a:prstGeom prst="rect">
            <a:avLst/>
          </a:prstGeom>
          <a:solidFill>
            <a:srgbClr val="0A154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495604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rows: partial boost toward truth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523951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0.90 found by searching 0.0 → 1.0 (step 0.05) via 5-fold cross-validation  →  best CV R² = 0.0769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1005840" cy="379476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 rot="16200000">
            <a:off x="228600" y="868680"/>
            <a:ext cx="100584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178308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91440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9144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2,500 rows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30759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features + target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missing with MEDIAN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72968" y="14173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914400"/>
            <a:ext cx="1783080" cy="1417320"/>
          </a:xfrm>
          <a:prstGeom prst="rect">
            <a:avLst/>
          </a:prstGeom>
          <a:solidFill>
            <a:srgbClr val="1A5276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9144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IQR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30759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2,327 normal  |  173 extreme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(extreme rows set aside)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3208" y="14173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212080" y="914400"/>
            <a:ext cx="1783080" cy="1417320"/>
          </a:xfrm>
          <a:prstGeom prst="rect">
            <a:avLst/>
          </a:prstGeom>
          <a:solidFill>
            <a:srgbClr val="17406D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0" y="91440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9144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30759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x0²…x14²  →  30 features 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13448" y="14173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0" y="914400"/>
            <a:ext cx="1783080" cy="1417320"/>
          </a:xfrm>
          <a:prstGeom prst="rect">
            <a:avLst/>
          </a:prstGeom>
          <a:solidFill>
            <a:srgbClr val="15395E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0" y="91440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0" y="91440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23760" y="1307592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2,327 normal rows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30 coefficients  →  R²=0.91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2468880"/>
            <a:ext cx="7406640" cy="868680"/>
          </a:xfrm>
          <a:prstGeom prst="rect">
            <a:avLst/>
          </a:prstGeom>
          <a:solidFill>
            <a:srgbClr val="7B4200"/>
          </a:solidFill>
          <a:ln w="12700">
            <a:solidFill>
              <a:srgbClr val="F39C12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63040" y="24871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173 Extreme Rows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63040" y="28346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/ x1² ≈ 5.0 for every extreme row  →  Formula: 5 × x1²   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474720"/>
            <a:ext cx="1005840" cy="1417320"/>
          </a:xfrm>
          <a:prstGeom prst="rect">
            <a:avLst/>
          </a:prstGeom>
          <a:solidFill>
            <a:srgbClr val="7B420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16200000">
            <a:off x="228600" y="3474720"/>
            <a:ext cx="1005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0" y="3520440"/>
            <a:ext cx="178308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71600" y="352044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0" y="3520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Test Row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3913632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feature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(unknown target)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72968" y="39319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291840" y="3520440"/>
            <a:ext cx="1783080" cy="1188720"/>
          </a:xfrm>
          <a:prstGeom prst="rect">
            <a:avLst/>
          </a:prstGeom>
          <a:solidFill>
            <a:srgbClr val="17406D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91840" y="352044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0" y="3520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913632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= L(x)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trained model)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93208" y="39319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12080" y="3520440"/>
            <a:ext cx="1783080" cy="1188720"/>
          </a:xfrm>
          <a:prstGeom prst="rect">
            <a:avLst/>
          </a:prstGeom>
          <a:solidFill>
            <a:srgbClr val="7B2D00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12080" y="352044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3520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3913632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= 5 × x1²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13448" y="3931920"/>
            <a:ext cx="128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132320" y="3520440"/>
            <a:ext cx="1783080" cy="1188720"/>
          </a:xfrm>
          <a:prstGeom prst="rect">
            <a:avLst/>
          </a:prstGeom>
          <a:solidFill>
            <a:srgbClr val="3D7A00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32320" y="3520440"/>
            <a:ext cx="178308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32320" y="352044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223760" y="3913632"/>
            <a:ext cx="1600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0.9×p1 + 0.1×p2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" y="4892040"/>
            <a:ext cx="8686800" cy="274320"/>
          </a:xfrm>
          <a:prstGeom prst="rect">
            <a:avLst/>
          </a:prstGeom>
          <a:solidFill>
            <a:srgbClr val="0A154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 Private score = 0.08138   |   Public score = 0.00108   |   CV estimate = 0.0819   |   Theoretical upper bound = 0.9983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Blend Work?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98448"/>
            <a:ext cx="868680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89204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93192" y="4892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 (honest)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3192" y="5074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0.0819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5093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cross-validation estimate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496312" y="489204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27AE6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9464" y="4892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Score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9464" y="5074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0.0754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93592" y="5093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Kaggle result — matches CV!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72584" y="489204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8B691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45736" y="4892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45736" y="5074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0.0011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769864" y="5093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set had no extreme rows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48856" y="4892040"/>
            <a:ext cx="2011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22008" y="4892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22008" y="5074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946136" y="50932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extreme rows predicted perfectly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C5FBD-A60A-062A-7150-1C4A1E267C4B}"/>
              </a:ext>
            </a:extLst>
          </p:cNvPr>
          <p:cNvSpPr txBox="1"/>
          <p:nvPr/>
        </p:nvSpPr>
        <p:spPr>
          <a:xfrm>
            <a:off x="713509" y="1579418"/>
            <a:ext cx="7633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Is this a good model?</a:t>
            </a:r>
          </a:p>
        </p:txBody>
      </p:sp>
    </p:spTree>
    <p:extLst>
      <p:ext uri="{BB962C8B-B14F-4D97-AF65-F5344CB8AC3E}">
        <p14:creationId xmlns:p14="http://schemas.microsoft.com/office/powerpoint/2010/main" val="502917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A9B2-B347-2EE1-C92B-BB5803FB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384C7A0-145F-C042-DF59-1CDC9781D791}"/>
              </a:ext>
            </a:extLst>
          </p:cNvPr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39C12">
              <a:alpha val="25000"/>
            </a:srgbClr>
          </a:solidFill>
          <a:ln w="12700">
            <a:solidFill>
              <a:srgbClr val="F39C1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D8420E-C04F-59AB-6A57-A00F1F7D6EE0}"/>
              </a:ext>
            </a:extLst>
          </p:cNvPr>
          <p:cNvSpPr/>
          <p:nvPr/>
        </p:nvSpPr>
        <p:spPr>
          <a:xfrm>
            <a:off x="54864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2E55380-4220-4420-8273-FDFF0B27BEF7}"/>
              </a:ext>
            </a:extLst>
          </p:cNvPr>
          <p:cNvSpPr/>
          <p:nvPr/>
        </p:nvSpPr>
        <p:spPr>
          <a:xfrm>
            <a:off x="203199" y="226423"/>
            <a:ext cx="8284029" cy="4963886"/>
          </a:xfrm>
          <a:prstGeom prst="rect">
            <a:avLst/>
          </a:prstGeom>
          <a:solidFill>
            <a:srgbClr val="065A8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sz="600" dirty="0"/>
          </a:p>
          <a:p>
            <a:pPr algn="ctr"/>
            <a:endParaRPr lang="cy-GB" sz="600" dirty="0">
              <a:solidFill>
                <a:schemeClr val="accent4"/>
              </a:solidFill>
            </a:endParaRPr>
          </a:p>
          <a:p>
            <a:pPr algn="ctr"/>
            <a:endParaRPr lang="cy-GB" sz="600" dirty="0">
              <a:solidFill>
                <a:schemeClr val="accent4"/>
              </a:solidFill>
            </a:endParaRP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ŷ =   2.15484171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+ 3.08979202 * x4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- 2.09834688 * x8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- 1.98161375 * x3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- 1.69610386 * x2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- 1.31464750 * x5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+ 1.11888343 * x6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+ 0.95544124 * x14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- 0.71678789 * x12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+ 0.70931006 * x9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+ 0.66366482 * x7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- 0.65748324 * x1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+ 0.52312649 * x10</a:t>
            </a:r>
          </a:p>
          <a:p>
            <a:pPr algn="ctr"/>
            <a:endParaRPr lang="cy-GB" sz="900" dirty="0">
              <a:solidFill>
                <a:schemeClr val="accent4"/>
              </a:solidFill>
            </a:endParaRPr>
          </a:p>
          <a:p>
            <a:pPr algn="ctr"/>
            <a:r>
              <a:rPr lang="cy-GB" sz="900" u="sng" dirty="0">
                <a:solidFill>
                  <a:schemeClr val="accent4"/>
                </a:solidFill>
              </a:rPr>
              <a:t>    + 0.49461707 * x1_sq</a:t>
            </a:r>
          </a:p>
          <a:p>
            <a:pPr algn="ctr"/>
            <a:endParaRPr lang="cy-GB" sz="900" b="1" u="sng" dirty="0">
              <a:solidFill>
                <a:schemeClr val="accent4"/>
              </a:solidFill>
            </a:endParaRP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+ 0.32662340 * x0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- 0.05457616 * x3_sq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- 0.04646810 * x11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- 0.02414184 * x14_sq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+ 0.01712182 * x12_sq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+ 0.01589473 * x6_sq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- 0.00358914 * x13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+ 0.00297905 * x0_sq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+ 0.00236237 * x9_sq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+ 0.00235617 * x7_sq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+ 0.00210337 * x11_sq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- 0.00110662 * x8_sq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- 0.00096704 * x10_sq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- 0.00062712 * x2_sq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- 0.00044938 * x4_sq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+ 0.00017473 * x5_sq</a:t>
            </a:r>
          </a:p>
          <a:p>
            <a:pPr algn="ctr"/>
            <a:r>
              <a:rPr lang="cy-GB" sz="900" dirty="0">
                <a:solidFill>
                  <a:schemeClr val="accent4"/>
                </a:solidFill>
              </a:rPr>
              <a:t>    - 0.00006735 * x13_sq</a:t>
            </a:r>
            <a:endParaRPr lang="en-US" sz="9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884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KEY LEARNINGS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from This Competition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99032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990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3502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before modelling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36776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the target distribution revealed the two-regime structure — the single most important discovery. Without this, all models failed.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0848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≠ Noise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386584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 rows were not noise — they were a second pattern (5×x1²). Removing them improved the linear model, using a formula captured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98064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898648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98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models can win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13639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 + a simple mathematical formula outperformed XGBoost, Neural Networks, SVR, and Kernel Ridge.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648456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48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844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is essential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886200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scored R²=0.99 on training data but −0.14 on unseen data. Only CV revealed the truth.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2A3F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398264"/>
            <a:ext cx="438912" cy="43891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398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3425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blending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636008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the linear model alone nor the x1² formula alone scored well. Combining them at 0.9/0.1 achieved the best result.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5">
            <a:extLst>
              <a:ext uri="{FF2B5EF4-FFF2-40B4-BE49-F238E27FC236}">
                <a16:creationId xmlns:a16="http://schemas.microsoft.com/office/drawing/2014/main" id="{35365CE6-318B-C341-6FD1-8FB43ECE4D59}"/>
              </a:ext>
            </a:extLst>
          </p:cNvPr>
          <p:cNvSpPr/>
          <p:nvPr/>
        </p:nvSpPr>
        <p:spPr>
          <a:xfrm>
            <a:off x="624840" y="1572207"/>
            <a:ext cx="8138160" cy="1076393"/>
          </a:xfrm>
          <a:prstGeom prst="rect">
            <a:avLst/>
          </a:prstGeom>
          <a:solidFill>
            <a:srgbClr val="065A8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r>
              <a:rPr lang="en-US" dirty="0"/>
              <a:t>Code block Link:</a:t>
            </a:r>
          </a:p>
          <a:p>
            <a:r>
              <a:rPr lang="en-US" sz="1400" dirty="0">
                <a:solidFill>
                  <a:srgbClr val="92D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https://colab.research.google.com/drive/15k-9U3dNhQFjzTfFTkAA5dqSEBxsW2Tc?usp=sharing</a:t>
            </a:r>
            <a:endParaRPr lang="en-US" sz="1400" dirty="0">
              <a:solidFill>
                <a:srgbClr val="92D05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4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1078</Words>
  <Application>Microsoft Office PowerPoint</Application>
  <PresentationFormat>On-screen Show (16:9)</PresentationFormat>
  <Paragraphs>209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Pipeline</dc:title>
  <dc:subject>PptxGenJS Presentation</dc:subject>
  <dc:creator>Santosh Bogati</dc:creator>
  <cp:lastModifiedBy>Santosh Bogati</cp:lastModifiedBy>
  <cp:revision>11</cp:revision>
  <dcterms:created xsi:type="dcterms:W3CDTF">2026-03-22T15:47:56Z</dcterms:created>
  <dcterms:modified xsi:type="dcterms:W3CDTF">2026-03-22T17:45:52Z</dcterms:modified>
</cp:coreProperties>
</file>